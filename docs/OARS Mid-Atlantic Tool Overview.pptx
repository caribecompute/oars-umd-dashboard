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eb041d532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eb041d532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f5316a050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f5316a050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eb041d5325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eb041d5325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f5316a0503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f5316a0503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f5316a0503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f5316a0503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f5316a0503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f5316a0503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f533d43702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f533d43702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f5316a0503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f5316a0503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f5316a0503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f5316a0503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eb8d39ccf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eb8d39ccf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ebb8c84f0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ebb8c84f0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eb041d5325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eb041d5325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2.png"/><Relationship Id="rId6" Type="http://schemas.openxmlformats.org/officeDocument/2006/relationships/image" Target="../media/image1.png"/><Relationship Id="rId7" Type="http://schemas.openxmlformats.org/officeDocument/2006/relationships/image" Target="../media/image5.png"/><Relationship Id="rId8" Type="http://schemas.openxmlformats.org/officeDocument/2006/relationships/image" Target="../media/image1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jpg"/><Relationship Id="rId4" Type="http://schemas.openxmlformats.org/officeDocument/2006/relationships/image" Target="../media/image9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0.jpg"/><Relationship Id="rId4" Type="http://schemas.openxmlformats.org/officeDocument/2006/relationships/image" Target="../media/image4.jpg"/><Relationship Id="rId5" Type="http://schemas.openxmlformats.org/officeDocument/2006/relationships/image" Target="../media/image6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8.png"/><Relationship Id="rId4" Type="http://schemas.openxmlformats.org/officeDocument/2006/relationships/image" Target="../media/image9.jpg"/><Relationship Id="rId5" Type="http://schemas.openxmlformats.org/officeDocument/2006/relationships/image" Target="../media/image11.jpg"/><Relationship Id="rId6" Type="http://schemas.openxmlformats.org/officeDocument/2006/relationships/image" Target="../media/image17.jpg"/><Relationship Id="rId7" Type="http://schemas.openxmlformats.org/officeDocument/2006/relationships/image" Target="../media/image19.png"/><Relationship Id="rId8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873500" y="889025"/>
            <a:ext cx="5140500" cy="174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4000"/>
              <a:t>OARS Mid-Atlantic Tool Overview</a:t>
            </a:r>
            <a:endParaRPr sz="4000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772250" y="2571750"/>
            <a:ext cx="5343000" cy="54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Updated July 15, 2026</a:t>
            </a:r>
            <a:endParaRPr sz="2000"/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9075" y="370025"/>
            <a:ext cx="3897750" cy="3532298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81938" y="3741550"/>
            <a:ext cx="2632074" cy="687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58950" y="4464125"/>
            <a:ext cx="3476040" cy="54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1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816775" y="4394850"/>
            <a:ext cx="2736918" cy="687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264850" y="3706825"/>
            <a:ext cx="1168675" cy="757299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1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548702" y="3706825"/>
            <a:ext cx="864324" cy="757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the OARS Mid-Atlantic Tool?</a:t>
            </a:r>
            <a:endParaRPr/>
          </a:p>
        </p:txBody>
      </p:sp>
      <p:sp>
        <p:nvSpPr>
          <p:cNvPr id="67" name="Google Shape;67;p14"/>
          <p:cNvSpPr txBox="1"/>
          <p:nvPr>
            <p:ph idx="1" type="body"/>
          </p:nvPr>
        </p:nvSpPr>
        <p:spPr>
          <a:xfrm>
            <a:off x="311700" y="9745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A </a:t>
            </a:r>
            <a:r>
              <a:rPr b="1" lang="en">
                <a:solidFill>
                  <a:schemeClr val="dk1"/>
                </a:solidFill>
              </a:rPr>
              <a:t>guide</a:t>
            </a:r>
            <a:r>
              <a:rPr b="1" lang="en">
                <a:solidFill>
                  <a:schemeClr val="dk1"/>
                </a:solidFill>
              </a:rPr>
              <a:t> to financing and </a:t>
            </a:r>
            <a:r>
              <a:rPr b="1" lang="en">
                <a:solidFill>
                  <a:schemeClr val="dk1"/>
                </a:solidFill>
              </a:rPr>
              <a:t>implementing resilience practices on private land in the Mid-Atlantic impacted by saltwater intrusion.</a:t>
            </a:r>
            <a:endParaRPr b="1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User: Landowner or service provider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Content: Ingredients spreadsheet (e.g., programs, practices) 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Format: Web tool (e.g., Petfinder)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 1: Determine stage of SWI</a:t>
            </a:r>
            <a:endParaRPr/>
          </a:p>
        </p:txBody>
      </p:sp>
      <p:pic>
        <p:nvPicPr>
          <p:cNvPr id="73" name="Google Shape;73;p15"/>
          <p:cNvPicPr preferRelativeResize="0"/>
          <p:nvPr/>
        </p:nvPicPr>
        <p:blipFill rotWithShape="1">
          <a:blip r:embed="rId3">
            <a:alphaModFix/>
          </a:blip>
          <a:srcRect b="0" l="0" r="0" t="16297"/>
          <a:stretch/>
        </p:blipFill>
        <p:spPr>
          <a:xfrm>
            <a:off x="1390650" y="1125700"/>
            <a:ext cx="6090800" cy="382370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5"/>
          <p:cNvSpPr/>
          <p:nvPr/>
        </p:nvSpPr>
        <p:spPr>
          <a:xfrm rot="590922">
            <a:off x="-190500" y="1710197"/>
            <a:ext cx="4468144" cy="2190717"/>
          </a:xfrm>
          <a:prstGeom prst="irregularSeal2">
            <a:avLst/>
          </a:prstGeom>
          <a:solidFill>
            <a:srgbClr val="FFD9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5"/>
          <p:cNvSpPr txBox="1"/>
          <p:nvPr/>
        </p:nvSpPr>
        <p:spPr>
          <a:xfrm>
            <a:off x="796650" y="2407225"/>
            <a:ext cx="20349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Using visual indicators!</a:t>
            </a:r>
            <a:endParaRPr b="1"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/>
          <p:nvPr/>
        </p:nvSpPr>
        <p:spPr>
          <a:xfrm>
            <a:off x="449600" y="2440250"/>
            <a:ext cx="8311800" cy="12045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OARS Scorecard</a:t>
            </a:r>
            <a:endParaRPr/>
          </a:p>
        </p:txBody>
      </p:sp>
      <p:sp>
        <p:nvSpPr>
          <p:cNvPr id="82" name="Google Shape;82;p16"/>
          <p:cNvSpPr txBox="1"/>
          <p:nvPr>
            <p:ph idx="1" type="body"/>
          </p:nvPr>
        </p:nvSpPr>
        <p:spPr>
          <a:xfrm>
            <a:off x="311700" y="974525"/>
            <a:ext cx="8520600" cy="15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A tool to determine the stage of saltwater intrusion on a farm or forest.</a:t>
            </a:r>
            <a:endParaRPr b="1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User: Landowner or service provider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Content: Questions and scoring determine by RISING core team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Format: Web tool and PDF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descr="Farm house icon vector. Isolated contour symbol illustration (Provided by Getty Images)" id="83" name="Google Shape;83;p16"/>
          <p:cNvPicPr preferRelativeResize="0"/>
          <p:nvPr/>
        </p:nvPicPr>
        <p:blipFill rotWithShape="1">
          <a:blip r:embed="rId3">
            <a:alphaModFix/>
          </a:blip>
          <a:srcRect b="20530" l="13510" r="15123" t="19790"/>
          <a:stretch/>
        </p:blipFill>
        <p:spPr>
          <a:xfrm>
            <a:off x="752000" y="2609375"/>
            <a:ext cx="1106202" cy="925076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6"/>
          <p:cNvSpPr/>
          <p:nvPr/>
        </p:nvSpPr>
        <p:spPr>
          <a:xfrm>
            <a:off x="1950300" y="2609375"/>
            <a:ext cx="1169400" cy="9252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6"/>
          <p:cNvSpPr/>
          <p:nvPr/>
        </p:nvSpPr>
        <p:spPr>
          <a:xfrm>
            <a:off x="3211800" y="2609375"/>
            <a:ext cx="1169400" cy="9252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6"/>
          <p:cNvSpPr/>
          <p:nvPr/>
        </p:nvSpPr>
        <p:spPr>
          <a:xfrm>
            <a:off x="4473300" y="2609313"/>
            <a:ext cx="1169400" cy="925200"/>
          </a:xfrm>
          <a:prstGeom prst="roundRect">
            <a:avLst>
              <a:gd fmla="val 16667" name="adj"/>
            </a:avLst>
          </a:prstGeom>
          <a:solidFill>
            <a:srgbClr val="9FC5E8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6"/>
          <p:cNvSpPr/>
          <p:nvPr/>
        </p:nvSpPr>
        <p:spPr>
          <a:xfrm>
            <a:off x="5734800" y="2609313"/>
            <a:ext cx="1169400" cy="925200"/>
          </a:xfrm>
          <a:prstGeom prst="roundRect">
            <a:avLst>
              <a:gd fmla="val 16667" name="adj"/>
            </a:avLst>
          </a:prstGeom>
          <a:solidFill>
            <a:srgbClr val="FFD966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6"/>
          <p:cNvSpPr/>
          <p:nvPr/>
        </p:nvSpPr>
        <p:spPr>
          <a:xfrm>
            <a:off x="6996300" y="2609363"/>
            <a:ext cx="1169400" cy="925200"/>
          </a:xfrm>
          <a:prstGeom prst="roundRect">
            <a:avLst>
              <a:gd fmla="val 16667" name="adj"/>
            </a:avLst>
          </a:prstGeom>
          <a:solidFill>
            <a:srgbClr val="E69138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6"/>
          <p:cNvSpPr/>
          <p:nvPr/>
        </p:nvSpPr>
        <p:spPr>
          <a:xfrm>
            <a:off x="449600" y="3778550"/>
            <a:ext cx="8311800" cy="12045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6"/>
          <p:cNvSpPr/>
          <p:nvPr/>
        </p:nvSpPr>
        <p:spPr>
          <a:xfrm>
            <a:off x="1950300" y="3947675"/>
            <a:ext cx="1169400" cy="9252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6"/>
          <p:cNvSpPr/>
          <p:nvPr/>
        </p:nvSpPr>
        <p:spPr>
          <a:xfrm>
            <a:off x="3211800" y="3947675"/>
            <a:ext cx="1169400" cy="9252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6"/>
          <p:cNvSpPr/>
          <p:nvPr/>
        </p:nvSpPr>
        <p:spPr>
          <a:xfrm>
            <a:off x="4473300" y="3947613"/>
            <a:ext cx="1169400" cy="925200"/>
          </a:xfrm>
          <a:prstGeom prst="roundRect">
            <a:avLst>
              <a:gd fmla="val 16667" name="adj"/>
            </a:avLst>
          </a:prstGeom>
          <a:solidFill>
            <a:srgbClr val="9FC5E8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6"/>
          <p:cNvSpPr/>
          <p:nvPr/>
        </p:nvSpPr>
        <p:spPr>
          <a:xfrm>
            <a:off x="5734800" y="3947613"/>
            <a:ext cx="1169400" cy="925200"/>
          </a:xfrm>
          <a:prstGeom prst="roundRect">
            <a:avLst>
              <a:gd fmla="val 16667" name="adj"/>
            </a:avLst>
          </a:prstGeom>
          <a:solidFill>
            <a:srgbClr val="FFD966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6"/>
          <p:cNvSpPr/>
          <p:nvPr/>
        </p:nvSpPr>
        <p:spPr>
          <a:xfrm>
            <a:off x="6996300" y="3947663"/>
            <a:ext cx="1169400" cy="925200"/>
          </a:xfrm>
          <a:prstGeom prst="roundRect">
            <a:avLst>
              <a:gd fmla="val 16667" name="adj"/>
            </a:avLst>
          </a:prstGeom>
          <a:solidFill>
            <a:srgbClr val="E69138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the pine tree icon vector. Isolated contour symbol illustration (Provided by Getty Images)" id="95" name="Google Shape;95;p16"/>
          <p:cNvPicPr preferRelativeResize="0"/>
          <p:nvPr/>
        </p:nvPicPr>
        <p:blipFill rotWithShape="1">
          <a:blip r:embed="rId4">
            <a:alphaModFix/>
          </a:blip>
          <a:srcRect b="13339" l="13638" r="11551" t="13892"/>
          <a:stretch/>
        </p:blipFill>
        <p:spPr>
          <a:xfrm>
            <a:off x="716825" y="3947626"/>
            <a:ext cx="896246" cy="871849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6"/>
          <p:cNvSpPr txBox="1"/>
          <p:nvPr/>
        </p:nvSpPr>
        <p:spPr>
          <a:xfrm>
            <a:off x="2038825" y="2841750"/>
            <a:ext cx="1003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No Impact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97" name="Google Shape;97;p16"/>
          <p:cNvSpPr txBox="1"/>
          <p:nvPr/>
        </p:nvSpPr>
        <p:spPr>
          <a:xfrm>
            <a:off x="7073375" y="2841750"/>
            <a:ext cx="1003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Marsh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98" name="Google Shape;98;p16"/>
          <p:cNvSpPr txBox="1"/>
          <p:nvPr/>
        </p:nvSpPr>
        <p:spPr>
          <a:xfrm>
            <a:off x="2038825" y="4210525"/>
            <a:ext cx="1003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No Impact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99" name="Google Shape;99;p16"/>
          <p:cNvSpPr txBox="1"/>
          <p:nvPr/>
        </p:nvSpPr>
        <p:spPr>
          <a:xfrm>
            <a:off x="7073375" y="4210525"/>
            <a:ext cx="1003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Marsh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7"/>
          <p:cNvSpPr txBox="1"/>
          <p:nvPr>
            <p:ph type="title"/>
          </p:nvPr>
        </p:nvSpPr>
        <p:spPr>
          <a:xfrm>
            <a:off x="76025" y="4722275"/>
            <a:ext cx="4260300" cy="31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120"/>
              <a:t>Schulenberg et al.</a:t>
            </a:r>
            <a:r>
              <a:rPr lang="en" sz="1120"/>
              <a:t> Extension Publication (Under Review)</a:t>
            </a:r>
            <a:endParaRPr sz="1120"/>
          </a:p>
        </p:txBody>
      </p:sp>
      <p:pic>
        <p:nvPicPr>
          <p:cNvPr id="105" name="Google Shape;10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97850" y="70350"/>
            <a:ext cx="4410025" cy="50028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7"/>
          <p:cNvSpPr txBox="1"/>
          <p:nvPr>
            <p:ph type="title"/>
          </p:nvPr>
        </p:nvSpPr>
        <p:spPr>
          <a:xfrm>
            <a:off x="311700" y="445025"/>
            <a:ext cx="4024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Visual indicators on farms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0" cy="46912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6850" y="152400"/>
            <a:ext cx="7770289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0"/>
          <p:cNvSpPr txBox="1"/>
          <p:nvPr>
            <p:ph type="title"/>
          </p:nvPr>
        </p:nvSpPr>
        <p:spPr>
          <a:xfrm>
            <a:off x="76025" y="4722275"/>
            <a:ext cx="4260300" cy="31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120"/>
              <a:t>Schulenberg et al. Extension Publication (Under Review)</a:t>
            </a:r>
            <a:endParaRPr sz="1120"/>
          </a:p>
        </p:txBody>
      </p:sp>
      <p:pic>
        <p:nvPicPr>
          <p:cNvPr id="122" name="Google Shape;12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97850" y="70350"/>
            <a:ext cx="4410025" cy="5002801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20"/>
          <p:cNvSpPr txBox="1"/>
          <p:nvPr>
            <p:ph type="title"/>
          </p:nvPr>
        </p:nvSpPr>
        <p:spPr>
          <a:xfrm>
            <a:off x="311700" y="445025"/>
            <a:ext cx="4024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Visual indicators on farms</a:t>
            </a:r>
            <a:endParaRPr/>
          </a:p>
        </p:txBody>
      </p:sp>
      <p:sp>
        <p:nvSpPr>
          <p:cNvPr id="124" name="Google Shape;124;p20"/>
          <p:cNvSpPr/>
          <p:nvPr/>
        </p:nvSpPr>
        <p:spPr>
          <a:xfrm>
            <a:off x="5662275" y="1489675"/>
            <a:ext cx="941400" cy="873900"/>
          </a:xfrm>
          <a:prstGeom prst="roundRect">
            <a:avLst>
              <a:gd fmla="val 16667" name="adj"/>
            </a:avLst>
          </a:prstGeom>
          <a:solidFill>
            <a:srgbClr val="A2C4C9">
              <a:alpha val="39870"/>
            </a:srgbClr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20"/>
          <p:cNvSpPr/>
          <p:nvPr/>
        </p:nvSpPr>
        <p:spPr>
          <a:xfrm>
            <a:off x="6670800" y="2363575"/>
            <a:ext cx="1025400" cy="873900"/>
          </a:xfrm>
          <a:prstGeom prst="roundRect">
            <a:avLst>
              <a:gd fmla="val 16667" name="adj"/>
            </a:avLst>
          </a:prstGeom>
          <a:solidFill>
            <a:srgbClr val="9FC5E8">
              <a:alpha val="48730"/>
            </a:srgbClr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20"/>
          <p:cNvSpPr/>
          <p:nvPr/>
        </p:nvSpPr>
        <p:spPr>
          <a:xfrm>
            <a:off x="7771868" y="2363575"/>
            <a:ext cx="1025400" cy="873900"/>
          </a:xfrm>
          <a:prstGeom prst="roundRect">
            <a:avLst>
              <a:gd fmla="val 16667" name="adj"/>
            </a:avLst>
          </a:prstGeom>
          <a:solidFill>
            <a:srgbClr val="9FC5E8">
              <a:alpha val="48730"/>
            </a:srgbClr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20"/>
          <p:cNvSpPr txBox="1"/>
          <p:nvPr/>
        </p:nvSpPr>
        <p:spPr>
          <a:xfrm>
            <a:off x="311700" y="1445225"/>
            <a:ext cx="3883200" cy="184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Select indicators that best fit a specific field to get a SWI score. 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More sophisticated versions might include web platform with geospatial layers to assist with scoring. 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 2: Determine the goals of the landowner</a:t>
            </a:r>
            <a:endParaRPr/>
          </a:p>
        </p:txBody>
      </p:sp>
      <p:sp>
        <p:nvSpPr>
          <p:cNvPr id="133" name="Google Shape;133;p21"/>
          <p:cNvSpPr txBox="1"/>
          <p:nvPr/>
        </p:nvSpPr>
        <p:spPr>
          <a:xfrm>
            <a:off x="378375" y="1099113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800">
                <a:solidFill>
                  <a:srgbClr val="000000"/>
                </a:solidFill>
              </a:rPr>
              <a:t>What are your primary interests/goals?</a:t>
            </a:r>
            <a:endParaRPr sz="1800">
              <a:solidFill>
                <a:srgbClr val="000000"/>
              </a:solidFill>
            </a:endParaRPr>
          </a:p>
        </p:txBody>
      </p:sp>
      <p:sp>
        <p:nvSpPr>
          <p:cNvPr id="134" name="Google Shape;134;p21"/>
          <p:cNvSpPr/>
          <p:nvPr/>
        </p:nvSpPr>
        <p:spPr>
          <a:xfrm>
            <a:off x="378363" y="1753200"/>
            <a:ext cx="1578900" cy="572700"/>
          </a:xfrm>
          <a:prstGeom prst="roundRect">
            <a:avLst>
              <a:gd fmla="val 16667" name="adj"/>
            </a:avLst>
          </a:prstGeom>
          <a:noFill/>
          <a:ln cap="flat" cmpd="sng" w="138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33025" lIns="133025" spcFirstLastPara="1" rIns="133025" wrap="square" tIns="1330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1"/>
              <a:t>crop production</a:t>
            </a:r>
            <a:endParaRPr sz="1601"/>
          </a:p>
        </p:txBody>
      </p:sp>
      <p:sp>
        <p:nvSpPr>
          <p:cNvPr id="135" name="Google Shape;135;p21"/>
          <p:cNvSpPr/>
          <p:nvPr/>
        </p:nvSpPr>
        <p:spPr>
          <a:xfrm>
            <a:off x="2080457" y="1753200"/>
            <a:ext cx="1578900" cy="572700"/>
          </a:xfrm>
          <a:prstGeom prst="roundRect">
            <a:avLst>
              <a:gd fmla="val 16667" name="adj"/>
            </a:avLst>
          </a:prstGeom>
          <a:noFill/>
          <a:ln cap="flat" cmpd="sng" w="138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33025" lIns="133025" spcFirstLastPara="1" rIns="133025" wrap="square" tIns="1330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1"/>
              <a:t>soil health</a:t>
            </a:r>
            <a:endParaRPr sz="1601"/>
          </a:p>
        </p:txBody>
      </p:sp>
      <p:sp>
        <p:nvSpPr>
          <p:cNvPr id="136" name="Google Shape;136;p21"/>
          <p:cNvSpPr/>
          <p:nvPr/>
        </p:nvSpPr>
        <p:spPr>
          <a:xfrm>
            <a:off x="3782552" y="1753200"/>
            <a:ext cx="1578900" cy="572700"/>
          </a:xfrm>
          <a:prstGeom prst="roundRect">
            <a:avLst>
              <a:gd fmla="val 16667" name="adj"/>
            </a:avLst>
          </a:prstGeom>
          <a:noFill/>
          <a:ln cap="flat" cmpd="sng" w="138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33025" lIns="133025" spcFirstLastPara="1" rIns="133025" wrap="square" tIns="1330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1"/>
              <a:t>conservation</a:t>
            </a:r>
            <a:endParaRPr sz="1601"/>
          </a:p>
        </p:txBody>
      </p:sp>
      <p:sp>
        <p:nvSpPr>
          <p:cNvPr id="137" name="Google Shape;137;p21"/>
          <p:cNvSpPr/>
          <p:nvPr/>
        </p:nvSpPr>
        <p:spPr>
          <a:xfrm>
            <a:off x="5484646" y="1753200"/>
            <a:ext cx="1578900" cy="572700"/>
          </a:xfrm>
          <a:prstGeom prst="roundRect">
            <a:avLst>
              <a:gd fmla="val 16667" name="adj"/>
            </a:avLst>
          </a:prstGeom>
          <a:noFill/>
          <a:ln cap="flat" cmpd="sng" w="138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33025" lIns="133025" spcFirstLastPara="1" rIns="133025" wrap="square" tIns="1330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1"/>
              <a:t>recreational activities</a:t>
            </a:r>
            <a:endParaRPr sz="1601"/>
          </a:p>
        </p:txBody>
      </p:sp>
      <p:sp>
        <p:nvSpPr>
          <p:cNvPr id="138" name="Google Shape;138;p21"/>
          <p:cNvSpPr/>
          <p:nvPr/>
        </p:nvSpPr>
        <p:spPr>
          <a:xfrm>
            <a:off x="7186741" y="1753200"/>
            <a:ext cx="1578900" cy="572700"/>
          </a:xfrm>
          <a:prstGeom prst="roundRect">
            <a:avLst>
              <a:gd fmla="val 16667" name="adj"/>
            </a:avLst>
          </a:prstGeom>
          <a:noFill/>
          <a:ln cap="flat" cmpd="sng" w="138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33025" lIns="133025" spcFirstLastPara="1" rIns="133025" wrap="square" tIns="1330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1"/>
              <a:t>other</a:t>
            </a:r>
            <a:endParaRPr sz="1601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 3: Find programs &amp; practices</a:t>
            </a:r>
            <a:endParaRPr/>
          </a:p>
        </p:txBody>
      </p:sp>
      <p:sp>
        <p:nvSpPr>
          <p:cNvPr id="144" name="Google Shape;144;p22"/>
          <p:cNvSpPr/>
          <p:nvPr/>
        </p:nvSpPr>
        <p:spPr>
          <a:xfrm>
            <a:off x="1582775" y="1134350"/>
            <a:ext cx="2251500" cy="38256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22"/>
          <p:cNvSpPr txBox="1"/>
          <p:nvPr/>
        </p:nvSpPr>
        <p:spPr>
          <a:xfrm>
            <a:off x="2115425" y="1420050"/>
            <a:ext cx="1186200" cy="50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Federal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46" name="Google Shape;146;p22"/>
          <p:cNvSpPr/>
          <p:nvPr/>
        </p:nvSpPr>
        <p:spPr>
          <a:xfrm>
            <a:off x="4081800" y="1134350"/>
            <a:ext cx="2251500" cy="3825600"/>
          </a:xfrm>
          <a:prstGeom prst="roundRect">
            <a:avLst>
              <a:gd fmla="val 16667" name="adj"/>
            </a:avLst>
          </a:prstGeom>
          <a:solidFill>
            <a:srgbClr val="C9DA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22"/>
          <p:cNvSpPr txBox="1"/>
          <p:nvPr/>
        </p:nvSpPr>
        <p:spPr>
          <a:xfrm>
            <a:off x="4614438" y="1420050"/>
            <a:ext cx="1186200" cy="50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State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48" name="Google Shape;148;p22"/>
          <p:cNvSpPr/>
          <p:nvPr/>
        </p:nvSpPr>
        <p:spPr>
          <a:xfrm>
            <a:off x="6580800" y="1134350"/>
            <a:ext cx="2251500" cy="3825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22"/>
          <p:cNvSpPr txBox="1"/>
          <p:nvPr/>
        </p:nvSpPr>
        <p:spPr>
          <a:xfrm>
            <a:off x="7113450" y="1420050"/>
            <a:ext cx="1186200" cy="50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Private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descr="Silhouette of Maryland (Provided by Getty Images)" id="150" name="Google Shape;150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7533">
            <a:off x="280151" y="1954656"/>
            <a:ext cx="1021492" cy="5052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ilhouette of Delaware (Provided by Getty Images)" id="151" name="Google Shape;151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3424" y="2830013"/>
            <a:ext cx="334964" cy="502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ilhouette of New Jersey (Provided by Getty Images)" id="152" name="Google Shape;152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2277" y="3624492"/>
            <a:ext cx="499724" cy="1068334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22"/>
          <p:cNvSpPr/>
          <p:nvPr/>
        </p:nvSpPr>
        <p:spPr>
          <a:xfrm>
            <a:off x="174250" y="1876850"/>
            <a:ext cx="8839800" cy="7311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22"/>
          <p:cNvSpPr/>
          <p:nvPr/>
        </p:nvSpPr>
        <p:spPr>
          <a:xfrm>
            <a:off x="152100" y="2715563"/>
            <a:ext cx="8839800" cy="7311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22"/>
          <p:cNvSpPr/>
          <p:nvPr/>
        </p:nvSpPr>
        <p:spPr>
          <a:xfrm>
            <a:off x="152100" y="3554300"/>
            <a:ext cx="8839800" cy="12339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5525" y="821600"/>
            <a:ext cx="8839204" cy="35002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683788"/>
            <a:ext cx="9144002" cy="37759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5"/>
          <p:cNvSpPr txBox="1"/>
          <p:nvPr>
            <p:ph type="title"/>
          </p:nvPr>
        </p:nvSpPr>
        <p:spPr>
          <a:xfrm>
            <a:off x="311700" y="2011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OARS Mid-Atlantic Tool Vision</a:t>
            </a:r>
            <a:endParaRPr/>
          </a:p>
        </p:txBody>
      </p:sp>
      <p:sp>
        <p:nvSpPr>
          <p:cNvPr id="171" name="Google Shape;171;p25"/>
          <p:cNvSpPr/>
          <p:nvPr/>
        </p:nvSpPr>
        <p:spPr>
          <a:xfrm>
            <a:off x="2872122" y="1088475"/>
            <a:ext cx="6147000" cy="34767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anchorCtr="0" anchor="ctr" bIns="113000" lIns="113000" spcFirstLastPara="1" rIns="113000" wrap="square" tIns="113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30"/>
          </a:p>
        </p:txBody>
      </p:sp>
      <p:pic>
        <p:nvPicPr>
          <p:cNvPr id="172" name="Google Shape;172;p25"/>
          <p:cNvPicPr preferRelativeResize="0"/>
          <p:nvPr/>
        </p:nvPicPr>
        <p:blipFill rotWithShape="1">
          <a:blip r:embed="rId3">
            <a:alphaModFix/>
          </a:blip>
          <a:srcRect b="21569" l="0" r="0" t="32626"/>
          <a:stretch/>
        </p:blipFill>
        <p:spPr>
          <a:xfrm>
            <a:off x="2872122" y="1573806"/>
            <a:ext cx="6147166" cy="2111732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25"/>
          <p:cNvSpPr/>
          <p:nvPr/>
        </p:nvSpPr>
        <p:spPr>
          <a:xfrm>
            <a:off x="3657818" y="3258569"/>
            <a:ext cx="1445100" cy="10155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35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3000" lIns="113000" spcFirstLastPara="1" rIns="113000" wrap="square" tIns="113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30"/>
          </a:p>
        </p:txBody>
      </p:sp>
      <p:sp>
        <p:nvSpPr>
          <p:cNvPr id="174" name="Google Shape;174;p25"/>
          <p:cNvSpPr/>
          <p:nvPr/>
        </p:nvSpPr>
        <p:spPr>
          <a:xfrm>
            <a:off x="5291273" y="3258569"/>
            <a:ext cx="1445100" cy="10155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35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3000" lIns="113000" spcFirstLastPara="1" rIns="113000" wrap="square" tIns="113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30"/>
          </a:p>
        </p:txBody>
      </p:sp>
      <p:sp>
        <p:nvSpPr>
          <p:cNvPr id="175" name="Google Shape;175;p25"/>
          <p:cNvSpPr/>
          <p:nvPr/>
        </p:nvSpPr>
        <p:spPr>
          <a:xfrm>
            <a:off x="6924728" y="3258569"/>
            <a:ext cx="1445100" cy="10155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35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3000" lIns="113000" spcFirstLastPara="1" rIns="113000" wrap="square" tIns="113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30"/>
          </a:p>
        </p:txBody>
      </p:sp>
      <p:pic>
        <p:nvPicPr>
          <p:cNvPr descr="the pine tree icon vector. Isolated contour symbol illustration (Provided by Getty Images)" id="176" name="Google Shape;176;p25"/>
          <p:cNvPicPr preferRelativeResize="0"/>
          <p:nvPr/>
        </p:nvPicPr>
        <p:blipFill rotWithShape="1">
          <a:blip r:embed="rId4">
            <a:alphaModFix/>
          </a:blip>
          <a:srcRect b="13339" l="13638" r="11551" t="13892"/>
          <a:stretch/>
        </p:blipFill>
        <p:spPr>
          <a:xfrm>
            <a:off x="5693837" y="3316771"/>
            <a:ext cx="727501" cy="70769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arm house icon vector. Isolated contour symbol illustration (Provided by Getty Images)" id="177" name="Google Shape;177;p25"/>
          <p:cNvPicPr preferRelativeResize="0"/>
          <p:nvPr/>
        </p:nvPicPr>
        <p:blipFill rotWithShape="1">
          <a:blip r:embed="rId5">
            <a:alphaModFix/>
          </a:blip>
          <a:srcRect b="20530" l="13510" r="15123" t="19790"/>
          <a:stretch/>
        </p:blipFill>
        <p:spPr>
          <a:xfrm>
            <a:off x="3957200" y="3316771"/>
            <a:ext cx="846249" cy="707692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5"/>
          <p:cNvSpPr txBox="1"/>
          <p:nvPr/>
        </p:nvSpPr>
        <p:spPr>
          <a:xfrm>
            <a:off x="3796650" y="3882449"/>
            <a:ext cx="1167300" cy="4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113000" lIns="113000" spcFirstLastPara="1" rIns="113000" wrap="square" tIns="113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30">
                <a:solidFill>
                  <a:schemeClr val="dk1"/>
                </a:solidFill>
              </a:rPr>
              <a:t>Farm</a:t>
            </a:r>
            <a:endParaRPr b="1" sz="1730">
              <a:solidFill>
                <a:schemeClr val="dk1"/>
              </a:solidFill>
            </a:endParaRPr>
          </a:p>
        </p:txBody>
      </p:sp>
      <p:sp>
        <p:nvSpPr>
          <p:cNvPr id="179" name="Google Shape;179;p25"/>
          <p:cNvSpPr txBox="1"/>
          <p:nvPr/>
        </p:nvSpPr>
        <p:spPr>
          <a:xfrm>
            <a:off x="5473895" y="3882449"/>
            <a:ext cx="1167300" cy="4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113000" lIns="113000" spcFirstLastPara="1" rIns="113000" wrap="square" tIns="113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30">
                <a:solidFill>
                  <a:schemeClr val="dk1"/>
                </a:solidFill>
              </a:rPr>
              <a:t>Forest</a:t>
            </a:r>
            <a:endParaRPr b="1" sz="1730">
              <a:solidFill>
                <a:schemeClr val="dk1"/>
              </a:solidFill>
            </a:endParaRPr>
          </a:p>
        </p:txBody>
      </p:sp>
      <p:pic>
        <p:nvPicPr>
          <p:cNvPr descr="Farm house icon vector. Isolated contour symbol illustration (Provided by Getty Images)" id="180" name="Google Shape;180;p25"/>
          <p:cNvPicPr preferRelativeResize="0"/>
          <p:nvPr/>
        </p:nvPicPr>
        <p:blipFill rotWithShape="1">
          <a:blip r:embed="rId5">
            <a:alphaModFix/>
          </a:blip>
          <a:srcRect b="20530" l="13510" r="15123" t="19790"/>
          <a:stretch/>
        </p:blipFill>
        <p:spPr>
          <a:xfrm>
            <a:off x="7035548" y="3360895"/>
            <a:ext cx="649001" cy="5427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he pine tree icon vector. Isolated contour symbol illustration (Provided by Getty Images)" id="181" name="Google Shape;181;p25"/>
          <p:cNvPicPr preferRelativeResize="0"/>
          <p:nvPr/>
        </p:nvPicPr>
        <p:blipFill rotWithShape="1">
          <a:blip r:embed="rId4">
            <a:alphaModFix/>
          </a:blip>
          <a:srcRect b="13339" l="13638" r="11551" t="13892"/>
          <a:stretch/>
        </p:blipFill>
        <p:spPr>
          <a:xfrm>
            <a:off x="7632290" y="3326182"/>
            <a:ext cx="649011" cy="631409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5"/>
          <p:cNvSpPr txBox="1"/>
          <p:nvPr/>
        </p:nvSpPr>
        <p:spPr>
          <a:xfrm>
            <a:off x="7063544" y="3863944"/>
            <a:ext cx="1167300" cy="4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113000" lIns="113000" spcFirstLastPara="1" rIns="113000" wrap="square" tIns="113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30">
                <a:solidFill>
                  <a:schemeClr val="dk1"/>
                </a:solidFill>
              </a:rPr>
              <a:t>Both</a:t>
            </a:r>
            <a:endParaRPr b="1" sz="1730">
              <a:solidFill>
                <a:schemeClr val="dk1"/>
              </a:solidFill>
            </a:endParaRPr>
          </a:p>
        </p:txBody>
      </p:sp>
      <p:sp>
        <p:nvSpPr>
          <p:cNvPr id="183" name="Google Shape;183;p25"/>
          <p:cNvSpPr/>
          <p:nvPr/>
        </p:nvSpPr>
        <p:spPr>
          <a:xfrm>
            <a:off x="3657725" y="2378156"/>
            <a:ext cx="4712100" cy="5031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35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3000" lIns="113000" spcFirstLastPara="1" rIns="113000" wrap="square" tIns="113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30"/>
          </a:p>
        </p:txBody>
      </p:sp>
      <p:sp>
        <p:nvSpPr>
          <p:cNvPr id="184" name="Google Shape;184;p25"/>
          <p:cNvSpPr/>
          <p:nvPr/>
        </p:nvSpPr>
        <p:spPr>
          <a:xfrm>
            <a:off x="7921091" y="2466138"/>
            <a:ext cx="309600" cy="315900"/>
          </a:xfrm>
          <a:prstGeom prst="roundRect">
            <a:avLst>
              <a:gd fmla="val 16667" name="adj"/>
            </a:avLst>
          </a:prstGeom>
          <a:solidFill>
            <a:srgbClr val="3D85C6"/>
          </a:solidFill>
          <a:ln cap="flat" cmpd="sng" w="204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8100" lIns="98100" spcFirstLastPara="1" rIns="98100" wrap="square" tIns="98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2"/>
          </a:p>
        </p:txBody>
      </p:sp>
      <p:sp>
        <p:nvSpPr>
          <p:cNvPr id="185" name="Google Shape;185;p25"/>
          <p:cNvSpPr/>
          <p:nvPr/>
        </p:nvSpPr>
        <p:spPr>
          <a:xfrm>
            <a:off x="7981126" y="2530619"/>
            <a:ext cx="120300" cy="114600"/>
          </a:xfrm>
          <a:prstGeom prst="ellipse">
            <a:avLst/>
          </a:prstGeom>
          <a:noFill/>
          <a:ln cap="flat" cmpd="sng" w="204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8100" lIns="98100" spcFirstLastPara="1" rIns="98100" wrap="square" tIns="98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2"/>
          </a:p>
        </p:txBody>
      </p:sp>
      <p:sp>
        <p:nvSpPr>
          <p:cNvPr id="186" name="Google Shape;186;p25"/>
          <p:cNvSpPr/>
          <p:nvPr/>
        </p:nvSpPr>
        <p:spPr>
          <a:xfrm rot="2519233">
            <a:off x="8066388" y="2667647"/>
            <a:ext cx="129155" cy="12956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 cap="flat" cmpd="sng" w="204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8100" lIns="98100" spcFirstLastPara="1" rIns="98100" wrap="square" tIns="98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2"/>
          </a:p>
        </p:txBody>
      </p:sp>
      <p:sp>
        <p:nvSpPr>
          <p:cNvPr id="187" name="Google Shape;187;p25"/>
          <p:cNvSpPr txBox="1"/>
          <p:nvPr/>
        </p:nvSpPr>
        <p:spPr>
          <a:xfrm>
            <a:off x="3711973" y="2447850"/>
            <a:ext cx="2841000" cy="363900"/>
          </a:xfrm>
          <a:prstGeom prst="rect">
            <a:avLst/>
          </a:prstGeom>
          <a:noFill/>
          <a:ln>
            <a:noFill/>
          </a:ln>
        </p:spPr>
        <p:txBody>
          <a:bodyPr anchorCtr="0" anchor="t" bIns="113000" lIns="113000" spcFirstLastPara="1" rIns="113000" wrap="square" tIns="113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89">
                <a:solidFill>
                  <a:schemeClr val="dk2"/>
                </a:solidFill>
              </a:rPr>
              <a:t>Search by location</a:t>
            </a:r>
            <a:endParaRPr sz="989">
              <a:solidFill>
                <a:schemeClr val="dk2"/>
              </a:solidFill>
            </a:endParaRPr>
          </a:p>
        </p:txBody>
      </p:sp>
      <p:sp>
        <p:nvSpPr>
          <p:cNvPr id="188" name="Google Shape;188;p25"/>
          <p:cNvSpPr txBox="1"/>
          <p:nvPr/>
        </p:nvSpPr>
        <p:spPr>
          <a:xfrm>
            <a:off x="5291180" y="2447835"/>
            <a:ext cx="1858800" cy="363900"/>
          </a:xfrm>
          <a:prstGeom prst="rect">
            <a:avLst/>
          </a:prstGeom>
          <a:noFill/>
          <a:ln>
            <a:noFill/>
          </a:ln>
        </p:spPr>
        <p:txBody>
          <a:bodyPr anchorCtr="0" anchor="t" bIns="113000" lIns="113000" spcFirstLastPara="1" rIns="113000" wrap="square" tIns="113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89">
                <a:solidFill>
                  <a:schemeClr val="dk2"/>
                </a:solidFill>
              </a:rPr>
              <a:t>State, county, ZIP code</a:t>
            </a:r>
            <a:endParaRPr sz="989">
              <a:solidFill>
                <a:schemeClr val="dk2"/>
              </a:solidFill>
            </a:endParaRPr>
          </a:p>
        </p:txBody>
      </p:sp>
      <p:cxnSp>
        <p:nvCxnSpPr>
          <p:cNvPr id="189" name="Google Shape;189;p25"/>
          <p:cNvCxnSpPr>
            <a:endCxn id="187" idx="2"/>
          </p:cNvCxnSpPr>
          <p:nvPr/>
        </p:nvCxnSpPr>
        <p:spPr>
          <a:xfrm flipH="1">
            <a:off x="5132473" y="2446050"/>
            <a:ext cx="4200" cy="365700"/>
          </a:xfrm>
          <a:prstGeom prst="straightConnector1">
            <a:avLst/>
          </a:prstGeom>
          <a:noFill/>
          <a:ln cap="flat" cmpd="sng" w="235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0" name="Google Shape;190;p25"/>
          <p:cNvSpPr txBox="1"/>
          <p:nvPr/>
        </p:nvSpPr>
        <p:spPr>
          <a:xfrm>
            <a:off x="4931743" y="1147032"/>
            <a:ext cx="1858800" cy="363900"/>
          </a:xfrm>
          <a:prstGeom prst="rect">
            <a:avLst/>
          </a:prstGeom>
          <a:noFill/>
          <a:ln>
            <a:noFill/>
          </a:ln>
        </p:spPr>
        <p:txBody>
          <a:bodyPr anchorCtr="0" anchor="t" bIns="113000" lIns="113000" spcFirstLastPara="1" rIns="113000" wrap="square" tIns="113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89">
                <a:solidFill>
                  <a:schemeClr val="lt1"/>
                </a:solidFill>
              </a:rPr>
              <a:t>Find a resilience program</a:t>
            </a:r>
            <a:r>
              <a:rPr b="1" lang="en" sz="989">
                <a:solidFill>
                  <a:schemeClr val="lt1"/>
                </a:solidFill>
              </a:rPr>
              <a:t> </a:t>
            </a:r>
            <a:endParaRPr b="1" sz="989">
              <a:solidFill>
                <a:schemeClr val="lt1"/>
              </a:solidFill>
            </a:endParaRPr>
          </a:p>
        </p:txBody>
      </p:sp>
      <p:sp>
        <p:nvSpPr>
          <p:cNvPr id="191" name="Google Shape;191;p25"/>
          <p:cNvSpPr/>
          <p:nvPr/>
        </p:nvSpPr>
        <p:spPr>
          <a:xfrm>
            <a:off x="7981126" y="1217612"/>
            <a:ext cx="735000" cy="2406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04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8100" lIns="98100" spcFirstLastPara="1" rIns="98100" wrap="square" tIns="98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2"/>
          </a:p>
        </p:txBody>
      </p:sp>
      <p:sp>
        <p:nvSpPr>
          <p:cNvPr id="192" name="Google Shape;192;p25"/>
          <p:cNvSpPr txBox="1"/>
          <p:nvPr/>
        </p:nvSpPr>
        <p:spPr>
          <a:xfrm>
            <a:off x="8023456" y="1175791"/>
            <a:ext cx="735000" cy="3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8100" lIns="98100" spcFirstLastPara="1" rIns="98100" wrap="square" tIns="98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58">
                <a:solidFill>
                  <a:schemeClr val="dk1"/>
                </a:solidFill>
              </a:rPr>
              <a:t>Sign In</a:t>
            </a:r>
            <a:endParaRPr sz="858">
              <a:solidFill>
                <a:schemeClr val="dk1"/>
              </a:solidFill>
            </a:endParaRPr>
          </a:p>
        </p:txBody>
      </p:sp>
      <p:pic>
        <p:nvPicPr>
          <p:cNvPr descr="avatar (Provided by Getty Images)" id="193" name="Google Shape;193;p25"/>
          <p:cNvPicPr preferRelativeResize="0"/>
          <p:nvPr/>
        </p:nvPicPr>
        <p:blipFill rotWithShape="1">
          <a:blip r:embed="rId6">
            <a:alphaModFix/>
          </a:blip>
          <a:srcRect b="9885" l="14860" r="14208" t="9555"/>
          <a:stretch/>
        </p:blipFill>
        <p:spPr>
          <a:xfrm>
            <a:off x="8020773" y="1255098"/>
            <a:ext cx="145710" cy="165484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5"/>
          <p:cNvSpPr txBox="1"/>
          <p:nvPr/>
        </p:nvSpPr>
        <p:spPr>
          <a:xfrm>
            <a:off x="3450944" y="1147032"/>
            <a:ext cx="1858800" cy="363900"/>
          </a:xfrm>
          <a:prstGeom prst="rect">
            <a:avLst/>
          </a:prstGeom>
          <a:noFill/>
          <a:ln>
            <a:noFill/>
          </a:ln>
        </p:spPr>
        <p:txBody>
          <a:bodyPr anchorCtr="0" anchor="t" bIns="113000" lIns="113000" spcFirstLastPara="1" rIns="113000" wrap="square" tIns="113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89">
                <a:solidFill>
                  <a:schemeClr val="lt1"/>
                </a:solidFill>
              </a:rPr>
              <a:t>OARS</a:t>
            </a:r>
            <a:r>
              <a:rPr b="1" lang="en" sz="989">
                <a:solidFill>
                  <a:schemeClr val="lt1"/>
                </a:solidFill>
              </a:rPr>
              <a:t> Scorecards </a:t>
            </a:r>
            <a:endParaRPr b="1" sz="989">
              <a:solidFill>
                <a:schemeClr val="lt1"/>
              </a:solidFill>
            </a:endParaRPr>
          </a:p>
        </p:txBody>
      </p:sp>
      <p:sp>
        <p:nvSpPr>
          <p:cNvPr id="195" name="Google Shape;195;p25"/>
          <p:cNvSpPr/>
          <p:nvPr/>
        </p:nvSpPr>
        <p:spPr>
          <a:xfrm rot="-8100000">
            <a:off x="4766929" y="1263008"/>
            <a:ext cx="138310" cy="131946"/>
          </a:xfrm>
          <a:prstGeom prst="halfFrame">
            <a:avLst>
              <a:gd fmla="val 33333" name="adj1"/>
              <a:gd fmla="val 33333" name="adj2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113000" lIns="113000" spcFirstLastPara="1" rIns="113000" wrap="square" tIns="113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30"/>
          </a:p>
        </p:txBody>
      </p:sp>
      <p:sp>
        <p:nvSpPr>
          <p:cNvPr id="196" name="Google Shape;196;p25"/>
          <p:cNvSpPr/>
          <p:nvPr/>
        </p:nvSpPr>
        <p:spPr>
          <a:xfrm rot="-8100000">
            <a:off x="6667761" y="1263008"/>
            <a:ext cx="138310" cy="131946"/>
          </a:xfrm>
          <a:prstGeom prst="halfFrame">
            <a:avLst>
              <a:gd fmla="val 33333" name="adj1"/>
              <a:gd fmla="val 33333" name="adj2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113000" lIns="113000" spcFirstLastPara="1" rIns="113000" wrap="square" tIns="113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30"/>
          </a:p>
        </p:txBody>
      </p:sp>
      <p:pic>
        <p:nvPicPr>
          <p:cNvPr id="197" name="Google Shape;197;p2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074016" y="1138665"/>
            <a:ext cx="376917" cy="380489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25"/>
          <p:cNvSpPr/>
          <p:nvPr/>
        </p:nvSpPr>
        <p:spPr>
          <a:xfrm>
            <a:off x="217638" y="1088475"/>
            <a:ext cx="2450400" cy="34767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anchorCtr="0" anchor="ctr" bIns="113000" lIns="113000" spcFirstLastPara="1" rIns="113000" wrap="square" tIns="113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30"/>
          </a:p>
        </p:txBody>
      </p:sp>
      <p:sp>
        <p:nvSpPr>
          <p:cNvPr id="199" name="Google Shape;199;p25"/>
          <p:cNvSpPr txBox="1"/>
          <p:nvPr/>
        </p:nvSpPr>
        <p:spPr>
          <a:xfrm>
            <a:off x="708546" y="1151821"/>
            <a:ext cx="1858800" cy="363900"/>
          </a:xfrm>
          <a:prstGeom prst="rect">
            <a:avLst/>
          </a:prstGeom>
          <a:noFill/>
          <a:ln>
            <a:noFill/>
          </a:ln>
        </p:spPr>
        <p:txBody>
          <a:bodyPr anchorCtr="0" anchor="t" bIns="113000" lIns="113000" spcFirstLastPara="1" rIns="113000" wrap="square" tIns="113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89">
                <a:solidFill>
                  <a:schemeClr val="lt1"/>
                </a:solidFill>
              </a:rPr>
              <a:t>OARS Scorecards </a:t>
            </a:r>
            <a:endParaRPr b="1" sz="989">
              <a:solidFill>
                <a:schemeClr val="lt1"/>
              </a:solidFill>
            </a:endParaRPr>
          </a:p>
        </p:txBody>
      </p:sp>
      <p:sp>
        <p:nvSpPr>
          <p:cNvPr id="200" name="Google Shape;200;p25"/>
          <p:cNvSpPr/>
          <p:nvPr/>
        </p:nvSpPr>
        <p:spPr>
          <a:xfrm>
            <a:off x="359075" y="1593175"/>
            <a:ext cx="2208300" cy="2431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113000" lIns="113000" spcFirstLastPara="1" rIns="113000" wrap="square" tIns="113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30"/>
          </a:p>
        </p:txBody>
      </p:sp>
      <p:sp>
        <p:nvSpPr>
          <p:cNvPr id="201" name="Google Shape;201;p25"/>
          <p:cNvSpPr txBox="1"/>
          <p:nvPr/>
        </p:nvSpPr>
        <p:spPr>
          <a:xfrm>
            <a:off x="359079" y="1526547"/>
            <a:ext cx="2315100" cy="363900"/>
          </a:xfrm>
          <a:prstGeom prst="rect">
            <a:avLst/>
          </a:prstGeom>
          <a:noFill/>
          <a:ln>
            <a:noFill/>
          </a:ln>
        </p:spPr>
        <p:txBody>
          <a:bodyPr anchorCtr="0" anchor="t" bIns="113000" lIns="113000" spcFirstLastPara="1" rIns="113000" wrap="square" tIns="113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89">
                <a:solidFill>
                  <a:schemeClr val="dk1"/>
                </a:solidFill>
              </a:rPr>
              <a:t>Determine the stage of SWI:</a:t>
            </a:r>
            <a:endParaRPr sz="989">
              <a:solidFill>
                <a:schemeClr val="dk1"/>
              </a:solidFill>
            </a:endParaRPr>
          </a:p>
        </p:txBody>
      </p:sp>
      <p:grpSp>
        <p:nvGrpSpPr>
          <p:cNvPr id="202" name="Google Shape;202;p25"/>
          <p:cNvGrpSpPr/>
          <p:nvPr/>
        </p:nvGrpSpPr>
        <p:grpSpPr>
          <a:xfrm>
            <a:off x="353080" y="4111587"/>
            <a:ext cx="2208319" cy="369784"/>
            <a:chOff x="1322875" y="2194200"/>
            <a:chExt cx="1787100" cy="299250"/>
          </a:xfrm>
        </p:grpSpPr>
        <p:sp>
          <p:nvSpPr>
            <p:cNvPr id="203" name="Google Shape;203;p25"/>
            <p:cNvSpPr/>
            <p:nvPr/>
          </p:nvSpPr>
          <p:spPr>
            <a:xfrm>
              <a:off x="1322875" y="2194200"/>
              <a:ext cx="1787100" cy="294300"/>
            </a:xfrm>
            <a:prstGeom prst="roundRect">
              <a:avLst>
                <a:gd fmla="val 16667" name="adj"/>
              </a:avLst>
            </a:prstGeom>
            <a:solidFill>
              <a:srgbClr val="A2C4C9"/>
            </a:solidFill>
            <a:ln cap="flat" cmpd="sng" w="117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13000" lIns="113000" spcFirstLastPara="1" rIns="113000" wrap="square" tIns="1130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730"/>
            </a:p>
          </p:txBody>
        </p:sp>
        <p:sp>
          <p:nvSpPr>
            <p:cNvPr id="204" name="Google Shape;204;p25"/>
            <p:cNvSpPr txBox="1"/>
            <p:nvPr/>
          </p:nvSpPr>
          <p:spPr>
            <a:xfrm>
              <a:off x="1382133" y="2199150"/>
              <a:ext cx="1668600" cy="29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13000" lIns="113000" spcFirstLastPara="1" rIns="113000" wrap="square" tIns="1130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89">
                  <a:solidFill>
                    <a:schemeClr val="dk1"/>
                  </a:solidFill>
                </a:rPr>
                <a:t>Stage of SWI: Early Signs</a:t>
              </a:r>
              <a:endParaRPr b="1" sz="989">
                <a:solidFill>
                  <a:schemeClr val="dk1"/>
                </a:solidFill>
              </a:endParaRPr>
            </a:p>
          </p:txBody>
        </p:sp>
      </p:grpSp>
      <p:sp>
        <p:nvSpPr>
          <p:cNvPr id="205" name="Google Shape;205;p25"/>
          <p:cNvSpPr/>
          <p:nvPr/>
        </p:nvSpPr>
        <p:spPr>
          <a:xfrm rot="-8100000">
            <a:off x="2047500" y="1263008"/>
            <a:ext cx="138310" cy="131946"/>
          </a:xfrm>
          <a:prstGeom prst="halfFrame">
            <a:avLst>
              <a:gd fmla="val 33333" name="adj1"/>
              <a:gd fmla="val 33333" name="adj2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113000" lIns="113000" spcFirstLastPara="1" rIns="113000" wrap="square" tIns="113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30"/>
          </a:p>
        </p:txBody>
      </p:sp>
      <p:pic>
        <p:nvPicPr>
          <p:cNvPr id="206" name="Google Shape;206;p2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27197" y="1146069"/>
            <a:ext cx="376917" cy="38048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25"/>
          <p:cNvPicPr preferRelativeResize="0"/>
          <p:nvPr/>
        </p:nvPicPr>
        <p:blipFill rotWithShape="1">
          <a:blip r:embed="rId8">
            <a:alphaModFix/>
          </a:blip>
          <a:srcRect b="0" l="0" r="0" t="5865"/>
          <a:stretch/>
        </p:blipFill>
        <p:spPr>
          <a:xfrm>
            <a:off x="459446" y="1847039"/>
            <a:ext cx="1977456" cy="21117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